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64" r:id="rId2"/>
    <p:sldId id="259" r:id="rId3"/>
    <p:sldId id="261" r:id="rId4"/>
    <p:sldId id="258" r:id="rId5"/>
    <p:sldId id="260" r:id="rId6"/>
    <p:sldId id="257" r:id="rId7"/>
    <p:sldId id="256" r:id="rId8"/>
    <p:sldId id="262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15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BE4E99-A80A-41F4-AC70-769B623E89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A0E512E-E031-92AC-65A3-C65D811FBD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866F60-8A05-663D-0C27-EDF69956D8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4CB60-8131-45CB-8A7C-B35EF42FB112}" type="datetimeFigureOut">
              <a:rPr lang="en-IN" smtClean="0"/>
              <a:t>27-09-2025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4F7559-F199-623F-8087-F50C083EA9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5B1387-A465-AED9-EA67-7F869C433B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285FC0-2F03-40CD-8C9A-6D0967C241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32014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BF7AC1-FE5E-1CC6-F3AD-E017A4FD01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03E618-BE3D-9954-5D67-D42D1AF09F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DCAB72-AC41-603F-08A1-DE416117AC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4CB60-8131-45CB-8A7C-B35EF42FB112}" type="datetimeFigureOut">
              <a:rPr lang="en-IN" smtClean="0"/>
              <a:t>27-09-2025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1DBA23-0523-63BB-9A1E-EF92C09C3B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3B35D0-C6E6-3C0C-CB14-425BFAE47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285FC0-2F03-40CD-8C9A-6D0967C241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81883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31E6A7-BA75-D0F4-70B0-3F8981CBB0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284702-C52F-0941-3790-D121E43967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043253-3C82-988D-CD74-0B64535D58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4CB60-8131-45CB-8A7C-B35EF42FB112}" type="datetimeFigureOut">
              <a:rPr lang="en-IN" smtClean="0"/>
              <a:t>27-09-2025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E1B139-F4A9-E140-B09F-5B1D740F6A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67744A-E282-D357-EF8D-04231D159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285FC0-2F03-40CD-8C9A-6D0967C241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15076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53193D-8EC7-E112-ACBB-374D2EFBEB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34F38A-2302-86E4-D181-29E862C2B3E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D9F5EF-5FEE-1E8E-150A-66B5EEB5E7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D5205D-F1C1-645D-4BCB-86F08AE966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4CB60-8131-45CB-8A7C-B35EF42FB112}" type="datetimeFigureOut">
              <a:rPr lang="en-IN" smtClean="0"/>
              <a:t>27-09-2025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F32BBE-A446-9046-1E0C-41CFDC9E9F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3FEE5B-75D2-CA95-6134-12BB607EBB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285FC0-2F03-40CD-8C9A-6D0967C241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5498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D98CBC-7F3B-6699-56BB-C96F913408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68DF16-5C42-4728-8223-D1C61E47B6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2DB956-7F8E-BBF6-ABA7-7A4CBD6011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B576B58-3B1D-AE6E-048B-246A80FC519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123AC93-7E61-7D47-8F5B-6FC76F4B32E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B43C256-2739-8691-8D3C-5CD4DC49F5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4CB60-8131-45CB-8A7C-B35EF42FB112}" type="datetimeFigureOut">
              <a:rPr lang="en-IN" smtClean="0"/>
              <a:t>27-09-2025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BAC8D70-91FC-E0A9-C5E8-8A220E849F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DF2AD27-F5D6-16AE-9258-ADEC375587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285FC0-2F03-40CD-8C9A-6D0967C241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57829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BA3376-4DE1-949F-B5A4-57C02CB216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BE21667-D66A-9FE8-6800-68A6F32E90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4CB60-8131-45CB-8A7C-B35EF42FB112}" type="datetimeFigureOut">
              <a:rPr lang="en-IN" smtClean="0"/>
              <a:t>27-09-2025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217149-6EBC-D066-75ED-2CCA7E8C2C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25DEB5E-7643-FEE2-D3D8-D3A1CBE1CF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285FC0-2F03-40CD-8C9A-6D0967C241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70684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F645760-09F4-F8A4-D76D-FA6AF169FC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4CB60-8131-45CB-8A7C-B35EF42FB112}" type="datetimeFigureOut">
              <a:rPr lang="en-IN" smtClean="0"/>
              <a:t>27-09-2025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C8A497F-9F44-501D-539D-EF858B6D89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ECEB00-323D-CC3C-CBA1-08D8352998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285FC0-2F03-40CD-8C9A-6D0967C241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01767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6D41AC-525E-8C07-5878-B8E60EC2E2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B5AE46-2290-1D3C-3A31-5804BCD253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F40514-BDB8-5A6A-98A9-7CD8A5B506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DBDB00-A930-DAB1-C1B1-8FB4D2B3A9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4CB60-8131-45CB-8A7C-B35EF42FB112}" type="datetimeFigureOut">
              <a:rPr lang="en-IN" smtClean="0"/>
              <a:t>27-09-2025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A14F99-DDB6-4663-2440-57533CBFD5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5FD4AE-0D87-97ED-1373-2F04CB1D78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285FC0-2F03-40CD-8C9A-6D0967C241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69840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13A26C-3786-C13C-0045-A2F3AC0B15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2D137F3-C514-6FFD-2B25-8A09DFABB3D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BD4BC2-AE9D-4C72-820A-7B45E9D923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904910-8058-101D-A1BF-AFAF1505E5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4CB60-8131-45CB-8A7C-B35EF42FB112}" type="datetimeFigureOut">
              <a:rPr lang="en-IN" smtClean="0"/>
              <a:t>27-09-2025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049D3E-7C20-C1B8-5EE3-FDA113910E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48DAE9-F9A7-230E-D16D-6D63951770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285FC0-2F03-40CD-8C9A-6D0967C241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74519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2C394E-7082-8C6D-6081-EE823820DE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51FB5BC-A4C4-41DF-C72E-631A5875B5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2DE91B-892B-BBCD-91D9-CDB43FEBFC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4CB60-8131-45CB-8A7C-B35EF42FB112}" type="datetimeFigureOut">
              <a:rPr lang="en-IN" smtClean="0"/>
              <a:t>27-09-2025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C99329-1FFB-41FD-5870-8F72F395A1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7F187D-3B2D-AAE9-7517-D46C568947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285FC0-2F03-40CD-8C9A-6D0967C241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73591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B45E338-5DFA-78AE-F13C-CB4834D8246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5210B9-9551-82CC-0BB9-8F05169B0C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AED814-891A-1076-812A-533162032E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4CB60-8131-45CB-8A7C-B35EF42FB112}" type="datetimeFigureOut">
              <a:rPr lang="en-IN" smtClean="0"/>
              <a:t>27-09-2025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8E5F97-5CB0-98B6-B4E5-6B8B3241B7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22C071-2067-BB35-6812-FA06F12B0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285FC0-2F03-40CD-8C9A-6D0967C241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25347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2639C02-3E3B-ECD0-42EA-6D33213367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D54F1E-839C-DAD6-DC77-9B9C40D75F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29E723-2D8C-4D84-AE33-D0CEDE61782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374CB60-8131-45CB-8A7C-B35EF42FB112}" type="datetimeFigureOut">
              <a:rPr lang="en-IN" smtClean="0"/>
              <a:t>27-09-2025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3FDD21-487A-BDE2-1D2E-FFB67C2C57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FC626F-9E07-7760-A1CD-3C11C3C9C9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6285FC0-2F03-40CD-8C9A-6D0967C241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35134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35B15A4-D408-4032-9863-FAA45E3C6FA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20000"/>
              <a:lumOff val="80000"/>
              <a:alpha val="54000"/>
            </a:schemeClr>
          </a:solidFill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E0B87FD-8586-4095-9B84-7CC9375E537D}"/>
              </a:ext>
            </a:extLst>
          </p:cNvPr>
          <p:cNvSpPr txBox="1"/>
          <p:nvPr/>
        </p:nvSpPr>
        <p:spPr>
          <a:xfrm>
            <a:off x="2189521" y="1750755"/>
            <a:ext cx="7583744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/>
              <a:t>Group Name       </a:t>
            </a:r>
            <a:r>
              <a:rPr lang="en-US" sz="4000" b="1" dirty="0">
                <a:sym typeface="Wingdings" panose="05000000000000000000" pitchFamily="2" charset="2"/>
              </a:rPr>
              <a:t> The Analyzer</a:t>
            </a:r>
          </a:p>
          <a:p>
            <a:r>
              <a:rPr lang="en-US" sz="4000" b="1" dirty="0">
                <a:sym typeface="Wingdings" panose="05000000000000000000" pitchFamily="2" charset="2"/>
              </a:rPr>
              <a:t>Members Name  Siya Salvi</a:t>
            </a:r>
          </a:p>
          <a:p>
            <a:r>
              <a:rPr lang="en-US" sz="4000" b="1" dirty="0">
                <a:sym typeface="Wingdings" panose="05000000000000000000" pitchFamily="2" charset="2"/>
              </a:rPr>
              <a:t>                                   Kunika Gulve</a:t>
            </a:r>
          </a:p>
          <a:p>
            <a:r>
              <a:rPr lang="en-US" sz="4000" b="1" dirty="0">
                <a:sym typeface="Wingdings" panose="05000000000000000000" pitchFamily="2" charset="2"/>
              </a:rPr>
              <a:t>                                   Akanksha Patel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C71C656-8CFA-415C-87D8-BB31654A363C}"/>
              </a:ext>
            </a:extLst>
          </p:cNvPr>
          <p:cNvSpPr txBox="1"/>
          <p:nvPr/>
        </p:nvSpPr>
        <p:spPr>
          <a:xfrm>
            <a:off x="8150942" y="5225862"/>
            <a:ext cx="3952568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000" b="1" dirty="0"/>
          </a:p>
          <a:p>
            <a:r>
              <a:rPr lang="en-US" sz="2000" b="1" dirty="0"/>
              <a:t>Batch — T343</a:t>
            </a:r>
          </a:p>
          <a:p>
            <a:r>
              <a:rPr lang="en-US" sz="2000" b="1" dirty="0"/>
              <a:t>Mentor — </a:t>
            </a:r>
            <a:r>
              <a:rPr lang="en-US" sz="2000" b="1" dirty="0" err="1"/>
              <a:t>Prachiti</a:t>
            </a:r>
            <a:r>
              <a:rPr lang="en-US" sz="2000" b="1" dirty="0"/>
              <a:t> </a:t>
            </a:r>
            <a:r>
              <a:rPr lang="en-US" sz="2000" b="1" dirty="0" err="1"/>
              <a:t>Sonawane</a:t>
            </a:r>
            <a:endParaRPr lang="en-US" sz="2000" b="1" dirty="0"/>
          </a:p>
          <a:p>
            <a:r>
              <a:rPr lang="en-US" sz="2000" b="1" dirty="0"/>
              <a:t>IT </a:t>
            </a:r>
            <a:r>
              <a:rPr lang="en-US" sz="2000" b="1" dirty="0" err="1"/>
              <a:t>Vedant</a:t>
            </a:r>
            <a:r>
              <a:rPr lang="en-US" sz="2000" b="1" dirty="0"/>
              <a:t> Education PVT LTD</a:t>
            </a:r>
          </a:p>
          <a:p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4555751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een field with trees and mountains&#10;&#10;AI-generated content may be incorrect.">
            <a:extLst>
              <a:ext uri="{FF2B5EF4-FFF2-40B4-BE49-F238E27FC236}">
                <a16:creationId xmlns:a16="http://schemas.microsoft.com/office/drawing/2014/main" id="{DEE53E26-5B3A-84F8-B887-55E908D2C3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17" y="0"/>
            <a:ext cx="1215736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34279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70BA0B8-B748-3AC0-0756-04E162F813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 descr="A landscape with a valley and mountains&#10;&#10;AI-generated content may be incorrect.">
            <a:extLst>
              <a:ext uri="{FF2B5EF4-FFF2-40B4-BE49-F238E27FC236}">
                <a16:creationId xmlns:a16="http://schemas.microsoft.com/office/drawing/2014/main" id="{55D9F1AE-3A79-DD7E-2471-59A311ACF9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36"/>
          <a:stretch>
            <a:fillRect/>
          </a:stretch>
        </p:blipFill>
        <p:spPr>
          <a:xfrm>
            <a:off x="1" y="10"/>
            <a:ext cx="9669642" cy="6857990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125019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076838A-3794-429D-D1DA-FCBF1319F776}"/>
              </a:ext>
            </a:extLst>
          </p:cNvPr>
          <p:cNvSpPr txBox="1"/>
          <p:nvPr/>
        </p:nvSpPr>
        <p:spPr>
          <a:xfrm>
            <a:off x="6469626" y="0"/>
            <a:ext cx="5722374" cy="6858000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4200" b="1" dirty="0">
              <a:solidFill>
                <a:schemeClr val="accent1"/>
              </a:solidFill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4200" b="1" dirty="0">
                <a:solidFill>
                  <a:schemeClr val="accent1"/>
                </a:solidFill>
              </a:rPr>
              <a:t>Introduction: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800" dirty="0">
                <a:solidFill>
                  <a:schemeClr val="accent1"/>
                </a:solidFill>
              </a:rPr>
              <a:t>This study analyzes the impact of </a:t>
            </a:r>
            <a:r>
              <a:rPr lang="en-US" sz="2800" b="1" dirty="0">
                <a:solidFill>
                  <a:schemeClr val="accent1"/>
                </a:solidFill>
              </a:rPr>
              <a:t>Monsoon vs. Summer tourism</a:t>
            </a:r>
            <a:r>
              <a:rPr lang="en-US" sz="2800" dirty="0">
                <a:solidFill>
                  <a:schemeClr val="accent1"/>
                </a:solidFill>
              </a:rPr>
              <a:t> across Indian states and cities. It evaluates </a:t>
            </a:r>
            <a:r>
              <a:rPr lang="en-US" sz="2800" b="1" dirty="0">
                <a:solidFill>
                  <a:schemeClr val="accent1"/>
                </a:solidFill>
              </a:rPr>
              <a:t>tourist demographics</a:t>
            </a:r>
            <a:r>
              <a:rPr lang="en-US" sz="2800" dirty="0">
                <a:solidFill>
                  <a:schemeClr val="accent1"/>
                </a:solidFill>
              </a:rPr>
              <a:t>, focusing on domestic versus international visitors, and examines key </a:t>
            </a:r>
            <a:r>
              <a:rPr lang="en-US" sz="2800" b="1" dirty="0">
                <a:solidFill>
                  <a:schemeClr val="accent1"/>
                </a:solidFill>
              </a:rPr>
              <a:t>economic and infrastructure factors</a:t>
            </a:r>
            <a:r>
              <a:rPr lang="en-US" sz="2800" dirty="0">
                <a:solidFill>
                  <a:schemeClr val="accent1"/>
                </a:solidFill>
              </a:rPr>
              <a:t> such as revenue generation, hotel availability, occupancy rates, and eco-tourism activities. The objective is to derive </a:t>
            </a:r>
            <a:r>
              <a:rPr lang="en-US" sz="2800" b="1" dirty="0">
                <a:solidFill>
                  <a:schemeClr val="accent1"/>
                </a:solidFill>
              </a:rPr>
              <a:t>actionable insights</a:t>
            </a:r>
            <a:r>
              <a:rPr lang="en-US" sz="2800" dirty="0">
                <a:solidFill>
                  <a:schemeClr val="accent1"/>
                </a:solidFill>
              </a:rPr>
              <a:t> that can support </a:t>
            </a:r>
            <a:r>
              <a:rPr lang="en-US" sz="2800" b="1" dirty="0">
                <a:solidFill>
                  <a:schemeClr val="accent1"/>
                </a:solidFill>
              </a:rPr>
              <a:t>seasonal planning and resource allocation</a:t>
            </a:r>
            <a:r>
              <a:rPr lang="en-US" sz="2800" dirty="0">
                <a:solidFill>
                  <a:schemeClr val="accent1"/>
                </a:solidFill>
              </a:rPr>
              <a:t> in the tourism sector.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endParaRPr lang="en-US" sz="2800" dirty="0">
              <a:solidFill>
                <a:schemeClr val="accent1"/>
              </a:solidFill>
            </a:endParaRPr>
          </a:p>
          <a:p>
            <a:r>
              <a:rPr lang="en-US" sz="3800" b="1" dirty="0">
                <a:solidFill>
                  <a:schemeClr val="accent1"/>
                </a:solidFill>
              </a:rPr>
              <a:t>Problem Statement:</a:t>
            </a:r>
          </a:p>
          <a:p>
            <a:r>
              <a:rPr lang="en-US" sz="2900" dirty="0">
                <a:solidFill>
                  <a:schemeClr val="accent1"/>
                </a:solidFill>
              </a:rPr>
              <a:t>Tourism impact in India varies significantly between </a:t>
            </a:r>
            <a:r>
              <a:rPr lang="en-US" sz="2900" b="1" dirty="0">
                <a:solidFill>
                  <a:schemeClr val="accent1"/>
                </a:solidFill>
              </a:rPr>
              <a:t>Monsoon and Summer seasons</a:t>
            </a:r>
            <a:r>
              <a:rPr lang="en-US" sz="2900" dirty="0">
                <a:solidFill>
                  <a:schemeClr val="accent1"/>
                </a:solidFill>
              </a:rPr>
              <a:t>, directly influencing revenue and visitor numbers. However, there is </a:t>
            </a:r>
            <a:r>
              <a:rPr lang="en-US" sz="2900" b="1" dirty="0">
                <a:solidFill>
                  <a:schemeClr val="accent1"/>
                </a:solidFill>
              </a:rPr>
              <a:t>limited visibility into domestic versus international tourist patterns and spending behavior</a:t>
            </a:r>
            <a:r>
              <a:rPr lang="en-US" sz="2900" dirty="0">
                <a:solidFill>
                  <a:schemeClr val="accent1"/>
                </a:solidFill>
              </a:rPr>
              <a:t>. Additionally, challenges remain in assessing </a:t>
            </a:r>
            <a:r>
              <a:rPr lang="en-US" sz="2900" b="1" dirty="0">
                <a:solidFill>
                  <a:schemeClr val="accent1"/>
                </a:solidFill>
              </a:rPr>
              <a:t>infrastructure utilization</a:t>
            </a:r>
            <a:r>
              <a:rPr lang="en-US" sz="2900" dirty="0">
                <a:solidFill>
                  <a:schemeClr val="accent1"/>
                </a:solidFill>
              </a:rPr>
              <a:t>, including hotels, eco-tourism initiatives, and transport modes. Therefore, a </a:t>
            </a:r>
            <a:r>
              <a:rPr lang="en-US" sz="2900" b="1" dirty="0">
                <a:solidFill>
                  <a:schemeClr val="accent1"/>
                </a:solidFill>
              </a:rPr>
              <a:t>data-driven approach</a:t>
            </a:r>
            <a:r>
              <a:rPr lang="en-US" sz="2900" dirty="0">
                <a:solidFill>
                  <a:schemeClr val="accent1"/>
                </a:solidFill>
              </a:rPr>
              <a:t> is required to guide </a:t>
            </a:r>
            <a:r>
              <a:rPr lang="en-US" sz="2900" b="1" dirty="0">
                <a:solidFill>
                  <a:schemeClr val="accent1"/>
                </a:solidFill>
              </a:rPr>
              <a:t>policy decisions and marketing strategies</a:t>
            </a:r>
            <a:r>
              <a:rPr lang="en-US" sz="2900" dirty="0">
                <a:solidFill>
                  <a:schemeClr val="accent1"/>
                </a:solidFill>
              </a:rPr>
              <a:t>, ensuring sustainable growth and improved tourist experiences.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700" dirty="0"/>
          </a:p>
        </p:txBody>
      </p:sp>
    </p:spTree>
    <p:extLst>
      <p:ext uri="{BB962C8B-B14F-4D97-AF65-F5344CB8AC3E}">
        <p14:creationId xmlns:p14="http://schemas.microsoft.com/office/powerpoint/2010/main" val="28682677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37A4902-5DF2-CCE7-0B79-7AB7628179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217"/>
            <a:ext cx="12192000" cy="68315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94799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travel report&#10;&#10;AI-generated content may be incorrect.">
            <a:extLst>
              <a:ext uri="{FF2B5EF4-FFF2-40B4-BE49-F238E27FC236}">
                <a16:creationId xmlns:a16="http://schemas.microsoft.com/office/drawing/2014/main" id="{AFB65730-8107-0AB3-A330-67FF7D2DCE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6048"/>
            <a:ext cx="12192000" cy="6805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22883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3A233C8-B6DE-35C5-1456-2B42882307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valley with trees and a river&#10;&#10;AI-generated content may be incorrect.">
            <a:extLst>
              <a:ext uri="{FF2B5EF4-FFF2-40B4-BE49-F238E27FC236}">
                <a16:creationId xmlns:a16="http://schemas.microsoft.com/office/drawing/2014/main" id="{D50EBDE4-2041-16B4-7A95-5B35B438A6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36"/>
          <a:stretch>
            <a:fillRect/>
          </a:stretch>
        </p:blipFill>
        <p:spPr>
          <a:xfrm>
            <a:off x="1" y="10"/>
            <a:ext cx="12188950" cy="685799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125019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7BE52C9-2C20-9C8B-A912-2AC5FFD31EF4}"/>
              </a:ext>
            </a:extLst>
          </p:cNvPr>
          <p:cNvSpPr txBox="1"/>
          <p:nvPr/>
        </p:nvSpPr>
        <p:spPr>
          <a:xfrm>
            <a:off x="7531610" y="501445"/>
            <a:ext cx="4385735" cy="6194323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/>
          <a:p>
            <a:pPr marL="228600">
              <a:lnSpc>
                <a:spcPct val="90000"/>
              </a:lnSpc>
              <a:spcAft>
                <a:spcPts val="600"/>
              </a:spcAft>
            </a:pPr>
            <a:r>
              <a:rPr lang="en-US" sz="3500" b="1" dirty="0">
                <a:solidFill>
                  <a:schemeClr val="accent1"/>
                </a:solidFill>
              </a:rPr>
              <a:t>INSIGHTS</a:t>
            </a:r>
          </a:p>
          <a:p>
            <a:pPr marL="4572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600" b="1" dirty="0">
                <a:solidFill>
                  <a:schemeClr val="accent1"/>
                </a:solidFill>
              </a:rPr>
              <a:t>Seasonal Tourism Impact:</a:t>
            </a:r>
          </a:p>
          <a:p>
            <a:pPr marL="4572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b="1" dirty="0">
                <a:solidFill>
                  <a:schemeClr val="accent1"/>
                </a:solidFill>
              </a:rPr>
              <a:t>Tourists by Season</a:t>
            </a:r>
            <a:r>
              <a:rPr lang="en-US" sz="2200" dirty="0">
                <a:solidFill>
                  <a:schemeClr val="accent1"/>
                </a:solidFill>
              </a:rPr>
              <a:t>– Maharashtra has the highest tourist inflow, while Himachal Pradesh has the lowest among shown states.</a:t>
            </a:r>
          </a:p>
          <a:p>
            <a:pPr marL="4572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b="1" dirty="0">
                <a:solidFill>
                  <a:schemeClr val="accent1"/>
                </a:solidFill>
              </a:rPr>
              <a:t>Revenue Split</a:t>
            </a:r>
            <a:r>
              <a:rPr lang="en-US" sz="2200" dirty="0">
                <a:solidFill>
                  <a:schemeClr val="accent1"/>
                </a:solidFill>
              </a:rPr>
              <a:t>– Revenue is almost evenly split between domestic and international tourists.</a:t>
            </a:r>
          </a:p>
          <a:p>
            <a:pPr marL="4572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b="1" dirty="0">
                <a:solidFill>
                  <a:schemeClr val="accent1"/>
                </a:solidFill>
              </a:rPr>
              <a:t>Stay vs Spend </a:t>
            </a:r>
            <a:r>
              <a:rPr lang="en-US" sz="2200" dirty="0">
                <a:solidFill>
                  <a:schemeClr val="accent1"/>
                </a:solidFill>
              </a:rPr>
              <a:t>– Higher spending is associated with slightly longer stays.</a:t>
            </a:r>
          </a:p>
          <a:p>
            <a:pPr marL="4572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b="1" dirty="0">
                <a:solidFill>
                  <a:schemeClr val="accent1"/>
                </a:solidFill>
              </a:rPr>
              <a:t>Rainfall vs Tourist Count</a:t>
            </a:r>
            <a:r>
              <a:rPr lang="en-US" sz="2200" dirty="0">
                <a:solidFill>
                  <a:schemeClr val="accent1"/>
                </a:solidFill>
              </a:rPr>
              <a:t>– Tourist numbers fluctuate with rainfall, showing seasonal dependency.</a:t>
            </a:r>
          </a:p>
          <a:p>
            <a:pPr marL="4572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b="1" dirty="0">
                <a:solidFill>
                  <a:schemeClr val="accent1"/>
                </a:solidFill>
              </a:rPr>
              <a:t>Top 5 Cities by Tourist</a:t>
            </a:r>
            <a:r>
              <a:rPr lang="en-US" sz="2200" dirty="0">
                <a:solidFill>
                  <a:schemeClr val="accent1"/>
                </a:solidFill>
              </a:rPr>
              <a:t>– Panaji records the highest tourist visits, while Shimla has the lowest among the top five.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2702967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A road with trees and mountains in the background&#10;&#10;AI-generated content may be incorrect.">
            <a:extLst>
              <a:ext uri="{FF2B5EF4-FFF2-40B4-BE49-F238E27FC236}">
                <a16:creationId xmlns:a16="http://schemas.microsoft.com/office/drawing/2014/main" id="{70761538-A40C-77FD-B30D-0F811A11E2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2228"/>
          <a:stretch>
            <a:fillRect/>
          </a:stretch>
        </p:blipFill>
        <p:spPr>
          <a:xfrm>
            <a:off x="1" y="10"/>
            <a:ext cx="12098214" cy="685799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125019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A08AA3D-E67C-CFED-9756-C7FFD74C4CF2}"/>
              </a:ext>
            </a:extLst>
          </p:cNvPr>
          <p:cNvSpPr txBox="1"/>
          <p:nvPr/>
        </p:nvSpPr>
        <p:spPr>
          <a:xfrm>
            <a:off x="7531610" y="658762"/>
            <a:ext cx="4466122" cy="6063586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/>
          <a:p>
            <a:pPr marL="228600">
              <a:lnSpc>
                <a:spcPct val="90000"/>
              </a:lnSpc>
              <a:spcAft>
                <a:spcPts val="600"/>
              </a:spcAft>
            </a:pPr>
            <a:r>
              <a:rPr lang="en-US" sz="3500" b="1" dirty="0">
                <a:solidFill>
                  <a:schemeClr val="accent1"/>
                </a:solidFill>
              </a:rPr>
              <a:t>INSIGHTS</a:t>
            </a:r>
          </a:p>
          <a:p>
            <a:pPr marL="4572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1"/>
                </a:solidFill>
              </a:rPr>
              <a:t>Tourism Experience and Economic Impact: </a:t>
            </a:r>
          </a:p>
          <a:p>
            <a:pPr marL="4572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100" b="1" dirty="0">
                <a:solidFill>
                  <a:schemeClr val="accent1"/>
                </a:solidFill>
              </a:rPr>
              <a:t>Transport Mode Distribution </a:t>
            </a:r>
            <a:r>
              <a:rPr lang="en-US" sz="2100" dirty="0">
                <a:solidFill>
                  <a:schemeClr val="accent1"/>
                </a:solidFill>
              </a:rPr>
              <a:t> – Air travel dominates tourism transport, followed by rail and then road.</a:t>
            </a:r>
          </a:p>
          <a:p>
            <a:pPr marL="4572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100" b="1" dirty="0">
                <a:solidFill>
                  <a:schemeClr val="accent1"/>
                </a:solidFill>
              </a:rPr>
              <a:t>Revenue Trend by Year</a:t>
            </a:r>
            <a:r>
              <a:rPr lang="en-US" sz="2100" dirty="0">
                <a:solidFill>
                  <a:schemeClr val="accent1"/>
                </a:solidFill>
              </a:rPr>
              <a:t>– Tourism revenue shows fluctuations but a sharp rise after 2020.</a:t>
            </a:r>
          </a:p>
          <a:p>
            <a:pPr marL="4572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100" b="1" dirty="0">
                <a:solidFill>
                  <a:schemeClr val="accent1"/>
                </a:solidFill>
              </a:rPr>
              <a:t>Eco Tours by City</a:t>
            </a:r>
            <a:r>
              <a:rPr lang="en-US" sz="2100" dirty="0">
                <a:solidFill>
                  <a:schemeClr val="accent1"/>
                </a:solidFill>
              </a:rPr>
              <a:t>– Mumbai leads in eco tours, followed by New Delhi, while Jaipur has the least.</a:t>
            </a:r>
          </a:p>
          <a:p>
            <a:pPr marL="4572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100" b="1" dirty="0">
                <a:solidFill>
                  <a:schemeClr val="accent1"/>
                </a:solidFill>
              </a:rPr>
              <a:t>Events Impact</a:t>
            </a:r>
            <a:r>
              <a:rPr lang="en-US" sz="2100" dirty="0">
                <a:solidFill>
                  <a:schemeClr val="accent1"/>
                </a:solidFill>
              </a:rPr>
              <a:t>– Majority of tourists are unaffected by events, with only a small share showing impact.</a:t>
            </a:r>
          </a:p>
          <a:p>
            <a:pPr marL="4572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100" b="1" dirty="0">
                <a:solidFill>
                  <a:schemeClr val="accent1"/>
                </a:solidFill>
              </a:rPr>
              <a:t>Transport Mode Distribution over Time </a:t>
            </a:r>
            <a:r>
              <a:rPr lang="en-US" sz="2100" dirty="0">
                <a:solidFill>
                  <a:schemeClr val="accent1"/>
                </a:solidFill>
              </a:rPr>
              <a:t> – Transport usage has steadily increased year by year.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8697027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een valley with a house and mountains&#10;&#10;AI-generated content may be incorrect.">
            <a:extLst>
              <a:ext uri="{FF2B5EF4-FFF2-40B4-BE49-F238E27FC236}">
                <a16:creationId xmlns:a16="http://schemas.microsoft.com/office/drawing/2014/main" id="{863DA889-BCB3-44F0-EDE7-17D74DF0D5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E8AA99B-34FC-5FFB-EC61-D30984D4DDFA}"/>
              </a:ext>
            </a:extLst>
          </p:cNvPr>
          <p:cNvSpPr txBox="1"/>
          <p:nvPr/>
        </p:nvSpPr>
        <p:spPr>
          <a:xfrm>
            <a:off x="2010319" y="1317302"/>
            <a:ext cx="8500906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2000" b="1" dirty="0">
                <a:solidFill>
                  <a:schemeClr val="bg1">
                    <a:lumMod val="95000"/>
                  </a:schemeClr>
                </a:solidFill>
                <a:latin typeface="Amasis MT Pro Black" panose="020F0502020204030204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718093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119</TotalTime>
  <Words>370</Words>
  <Application>Microsoft Office PowerPoint</Application>
  <PresentationFormat>Widescreen</PresentationFormat>
  <Paragraphs>29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Amasis MT Pro Black</vt:lpstr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Akanksha Patel</dc:creator>
  <cp:lastModifiedBy>kunika gulve</cp:lastModifiedBy>
  <cp:revision>7</cp:revision>
  <dcterms:created xsi:type="dcterms:W3CDTF">2025-09-27T10:28:37Z</dcterms:created>
  <dcterms:modified xsi:type="dcterms:W3CDTF">2025-09-27T12:32:02Z</dcterms:modified>
</cp:coreProperties>
</file>